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8288000" cy="10287000"/>
  <p:notesSz cx="6858000" cy="9144000"/>
  <p:embeddedFontLst>
    <p:embeddedFont>
      <p:font typeface="Poppins Bold" panose="020B0604020202020204" charset="0"/>
      <p:bold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164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6.jpeg"/><Relationship Id="rId7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svg"/><Relationship Id="rId7" Type="http://schemas.openxmlformats.org/officeDocument/2006/relationships/image" Target="../media/image1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4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svg"/><Relationship Id="rId7" Type="http://schemas.openxmlformats.org/officeDocument/2006/relationships/image" Target="../media/image2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1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.svg"/><Relationship Id="rId7" Type="http://schemas.openxmlformats.org/officeDocument/2006/relationships/image" Target="../media/image3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.svg"/><Relationship Id="rId7" Type="http://schemas.openxmlformats.org/officeDocument/2006/relationships/image" Target="../media/image4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.svg"/><Relationship Id="rId7" Type="http://schemas.openxmlformats.org/officeDocument/2006/relationships/image" Target="../media/image4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png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072160">
            <a:off x="14787057" y="6786057"/>
            <a:ext cx="4944486" cy="4944486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397D84">
                      <a:alpha val="100000"/>
                    </a:srgbClr>
                  </a:gs>
                  <a:gs pos="100000">
                    <a:srgbClr val="03070E">
                      <a:alpha val="47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146602" y="6786057"/>
            <a:ext cx="4944486" cy="4944486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397D84">
                      <a:alpha val="100000"/>
                    </a:srgbClr>
                  </a:gs>
                  <a:gs pos="100000">
                    <a:srgbClr val="03070E">
                      <a:alpha val="47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3493371" y="1965021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645771" y="2117421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798171" y="2269821"/>
            <a:ext cx="11301259" cy="6356958"/>
          </a:xfrm>
          <a:custGeom>
            <a:avLst/>
            <a:gdLst/>
            <a:ahLst/>
            <a:cxnLst/>
            <a:rect l="l" t="t" r="r" b="b"/>
            <a:pathLst>
              <a:path w="11301259" h="6356958">
                <a:moveTo>
                  <a:pt x="0" y="0"/>
                </a:moveTo>
                <a:lnTo>
                  <a:pt x="11301258" y="0"/>
                </a:lnTo>
                <a:lnTo>
                  <a:pt x="1130125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2146602" y="-310065"/>
            <a:ext cx="24139346" cy="11516730"/>
          </a:xfrm>
          <a:custGeom>
            <a:avLst/>
            <a:gdLst/>
            <a:ahLst/>
            <a:cxnLst/>
            <a:rect l="l" t="t" r="r" b="b"/>
            <a:pathLst>
              <a:path w="24139346" h="11516730">
                <a:moveTo>
                  <a:pt x="0" y="0"/>
                </a:moveTo>
                <a:lnTo>
                  <a:pt x="24139347" y="0"/>
                </a:lnTo>
                <a:lnTo>
                  <a:pt x="24139347" y="11516730"/>
                </a:lnTo>
                <a:lnTo>
                  <a:pt x="0" y="11516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950" b="-89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2" name="Group 12"/>
          <p:cNvGrpSpPr/>
          <p:nvPr/>
        </p:nvGrpSpPr>
        <p:grpSpPr>
          <a:xfrm>
            <a:off x="-2886341" y="5295900"/>
            <a:ext cx="19027578" cy="4936271"/>
            <a:chOff x="0" y="0"/>
            <a:chExt cx="5011420" cy="1300187"/>
          </a:xfrm>
        </p:grpSpPr>
        <p:sp>
          <p:nvSpPr>
            <p:cNvPr id="13" name="Freeform 13"/>
            <p:cNvSpPr/>
            <p:nvPr/>
          </p:nvSpPr>
          <p:spPr>
            <a:xfrm>
              <a:off x="24747" y="0"/>
              <a:ext cx="4961925" cy="1297845"/>
            </a:xfrm>
            <a:custGeom>
              <a:avLst/>
              <a:gdLst/>
              <a:ahLst/>
              <a:cxnLst/>
              <a:rect l="l" t="t" r="r" b="b"/>
              <a:pathLst>
                <a:path w="4961925" h="1297845">
                  <a:moveTo>
                    <a:pt x="3769947" y="18713"/>
                  </a:moveTo>
                  <a:lnTo>
                    <a:pt x="4950544" y="630209"/>
                  </a:lnTo>
                  <a:cubicBezTo>
                    <a:pt x="4957536" y="633831"/>
                    <a:pt x="4961926" y="641048"/>
                    <a:pt x="4961926" y="648922"/>
                  </a:cubicBezTo>
                  <a:cubicBezTo>
                    <a:pt x="4961926" y="656797"/>
                    <a:pt x="4957536" y="664014"/>
                    <a:pt x="4950544" y="667636"/>
                  </a:cubicBezTo>
                  <a:lnTo>
                    <a:pt x="3769947" y="1279131"/>
                  </a:lnTo>
                  <a:cubicBezTo>
                    <a:pt x="3746208" y="1291427"/>
                    <a:pt x="3719865" y="1297845"/>
                    <a:pt x="3693130" y="1297845"/>
                  </a:cubicBezTo>
                  <a:lnTo>
                    <a:pt x="1268796" y="1297845"/>
                  </a:lnTo>
                  <a:cubicBezTo>
                    <a:pt x="1242062" y="1297845"/>
                    <a:pt x="1215718" y="1291427"/>
                    <a:pt x="1191979" y="1279131"/>
                  </a:cubicBezTo>
                  <a:lnTo>
                    <a:pt x="11382" y="667636"/>
                  </a:lnTo>
                  <a:cubicBezTo>
                    <a:pt x="4390" y="664014"/>
                    <a:pt x="0" y="656797"/>
                    <a:pt x="0" y="648922"/>
                  </a:cubicBezTo>
                  <a:cubicBezTo>
                    <a:pt x="0" y="641048"/>
                    <a:pt x="4390" y="633831"/>
                    <a:pt x="11382" y="630209"/>
                  </a:cubicBezTo>
                  <a:lnTo>
                    <a:pt x="1191979" y="18713"/>
                  </a:lnTo>
                  <a:cubicBezTo>
                    <a:pt x="1215718" y="6418"/>
                    <a:pt x="1242062" y="0"/>
                    <a:pt x="1268796" y="0"/>
                  </a:cubicBezTo>
                  <a:lnTo>
                    <a:pt x="3693130" y="0"/>
                  </a:lnTo>
                  <a:cubicBezTo>
                    <a:pt x="3719865" y="0"/>
                    <a:pt x="3746208" y="6418"/>
                    <a:pt x="3769947" y="18713"/>
                  </a:cubicBezTo>
                  <a:close/>
                </a:path>
              </a:pathLst>
            </a:custGeom>
            <a:gradFill rotWithShape="1">
              <a:gsLst>
                <a:gs pos="0">
                  <a:srgbClr val="397D84">
                    <a:alpha val="100000"/>
                  </a:srgbClr>
                </a:gs>
                <a:gs pos="100000">
                  <a:srgbClr val="03070E">
                    <a:alpha val="47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17055" y="135829"/>
              <a:ext cx="3177310" cy="9884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9007" y="6395611"/>
            <a:ext cx="1508334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MTIT ASSIGNMENT 2 :IT 4020 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7" name="Freeform 1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1" name="Group 21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7401544" y="7713967"/>
            <a:ext cx="904132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00"/>
              </a:lnSpc>
              <a:spcBef>
                <a:spcPct val="0"/>
              </a:spcBef>
            </a:pPr>
            <a:r>
              <a:rPr lang="en-US" sz="8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GROUP NO: 254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916772" y="-4632294"/>
            <a:ext cx="18756170" cy="14537813"/>
            <a:chOff x="0" y="0"/>
            <a:chExt cx="812800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629997"/>
            </a:xfrm>
            <a:custGeom>
              <a:avLst/>
              <a:gdLst/>
              <a:ahLst/>
              <a:cxnLst/>
              <a:rect l="l" t="t" r="r" b="b"/>
              <a:pathLst>
                <a:path w="812800" h="629997">
                  <a:moveTo>
                    <a:pt x="609600" y="0"/>
                  </a:moveTo>
                  <a:cubicBezTo>
                    <a:pt x="721824" y="0"/>
                    <a:pt x="812800" y="141030"/>
                    <a:pt x="812800" y="314999"/>
                  </a:cubicBezTo>
                  <a:cubicBezTo>
                    <a:pt x="812800" y="488968"/>
                    <a:pt x="721824" y="629997"/>
                    <a:pt x="609600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w="66675" cap="sq">
              <a:gradFill>
                <a:gsLst>
                  <a:gs pos="0">
                    <a:srgbClr val="397D84">
                      <a:alpha val="85000"/>
                    </a:srgbClr>
                  </a:gs>
                  <a:gs pos="100000">
                    <a:srgbClr val="03070E">
                      <a:alpha val="3995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95009" y="498973"/>
            <a:ext cx="11759699" cy="14674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39"/>
              </a:lnSpc>
              <a:spcBef>
                <a:spcPct val="0"/>
              </a:spcBef>
            </a:pPr>
            <a:r>
              <a:rPr lang="en-US" sz="85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OUR  TEAM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92154" y="3666812"/>
            <a:ext cx="15509037" cy="5132405"/>
            <a:chOff x="0" y="0"/>
            <a:chExt cx="20678716" cy="6843206"/>
          </a:xfrm>
        </p:grpSpPr>
        <p:grpSp>
          <p:nvGrpSpPr>
            <p:cNvPr id="8" name="Group 8"/>
            <p:cNvGrpSpPr/>
            <p:nvPr/>
          </p:nvGrpSpPr>
          <p:grpSpPr>
            <a:xfrm>
              <a:off x="10436605" y="0"/>
              <a:ext cx="4947290" cy="6835352"/>
              <a:chOff x="0" y="0"/>
              <a:chExt cx="862457" cy="1191594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62457" cy="1191594"/>
              </a:xfrm>
              <a:custGeom>
                <a:avLst/>
                <a:gdLst/>
                <a:ahLst/>
                <a:cxnLst/>
                <a:rect l="l" t="t" r="r" b="b"/>
                <a:pathLst>
                  <a:path w="862457" h="1191594">
                    <a:moveTo>
                      <a:pt x="862457" y="259531"/>
                    </a:moveTo>
                    <a:lnTo>
                      <a:pt x="862457" y="932063"/>
                    </a:lnTo>
                    <a:cubicBezTo>
                      <a:pt x="862457" y="1000895"/>
                      <a:pt x="835114" y="1066908"/>
                      <a:pt x="786442" y="1115579"/>
                    </a:cubicBezTo>
                    <a:cubicBezTo>
                      <a:pt x="737771" y="1164250"/>
                      <a:pt x="671758" y="1191594"/>
                      <a:pt x="602926" y="1191594"/>
                    </a:cubicBezTo>
                    <a:lnTo>
                      <a:pt x="259531" y="1191594"/>
                    </a:lnTo>
                    <a:cubicBezTo>
                      <a:pt x="190699" y="1191594"/>
                      <a:pt x="124686" y="1164250"/>
                      <a:pt x="76015" y="1115579"/>
                    </a:cubicBezTo>
                    <a:cubicBezTo>
                      <a:pt x="27343" y="1066908"/>
                      <a:pt x="0" y="1000895"/>
                      <a:pt x="0" y="932063"/>
                    </a:cubicBezTo>
                    <a:lnTo>
                      <a:pt x="0" y="259531"/>
                    </a:lnTo>
                    <a:cubicBezTo>
                      <a:pt x="0" y="190699"/>
                      <a:pt x="27343" y="124686"/>
                      <a:pt x="76015" y="76015"/>
                    </a:cubicBezTo>
                    <a:cubicBezTo>
                      <a:pt x="124686" y="27343"/>
                      <a:pt x="190699" y="0"/>
                      <a:pt x="259531" y="0"/>
                    </a:cubicBezTo>
                    <a:lnTo>
                      <a:pt x="602926" y="0"/>
                    </a:lnTo>
                    <a:cubicBezTo>
                      <a:pt x="671758" y="0"/>
                      <a:pt x="737771" y="27343"/>
                      <a:pt x="786442" y="76015"/>
                    </a:cubicBezTo>
                    <a:cubicBezTo>
                      <a:pt x="835114" y="124686"/>
                      <a:pt x="862457" y="190699"/>
                      <a:pt x="862457" y="259531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862457" cy="123921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10689581" y="267866"/>
              <a:ext cx="4399446" cy="4688836"/>
              <a:chOff x="0" y="0"/>
              <a:chExt cx="3536956" cy="3769611"/>
            </a:xfrm>
          </p:grpSpPr>
          <p:pic>
            <p:nvPicPr>
              <p:cNvPr id="12" name="Picture 12"/>
              <p:cNvPicPr>
                <a:picLocks noChangeAspect="1"/>
              </p:cNvPicPr>
              <p:nvPr/>
            </p:nvPicPr>
            <p:blipFill>
              <a:blip r:embed="rId3"/>
              <a:srcRect l="4757" t="9531" r="9364" b="23653"/>
              <a:stretch>
                <a:fillRect/>
              </a:stretch>
            </p:blipFill>
            <p:spPr>
              <a:xfrm>
                <a:off x="0" y="0"/>
                <a:ext cx="3536956" cy="3769611"/>
              </a:xfrm>
              <a:prstGeom prst="rect">
                <a:avLst/>
              </a:prstGeom>
            </p:spPr>
          </p:pic>
        </p:grpSp>
        <p:grpSp>
          <p:nvGrpSpPr>
            <p:cNvPr id="13" name="Group 13"/>
            <p:cNvGrpSpPr/>
            <p:nvPr/>
          </p:nvGrpSpPr>
          <p:grpSpPr>
            <a:xfrm>
              <a:off x="15731426" y="109451"/>
              <a:ext cx="4947290" cy="6733755"/>
              <a:chOff x="0" y="0"/>
              <a:chExt cx="862457" cy="117388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62457" cy="1173883"/>
              </a:xfrm>
              <a:custGeom>
                <a:avLst/>
                <a:gdLst/>
                <a:ahLst/>
                <a:cxnLst/>
                <a:rect l="l" t="t" r="r" b="b"/>
                <a:pathLst>
                  <a:path w="862457" h="1173883">
                    <a:moveTo>
                      <a:pt x="862457" y="259531"/>
                    </a:moveTo>
                    <a:lnTo>
                      <a:pt x="862457" y="914352"/>
                    </a:lnTo>
                    <a:cubicBezTo>
                      <a:pt x="862457" y="983184"/>
                      <a:pt x="835114" y="1049196"/>
                      <a:pt x="786442" y="1097868"/>
                    </a:cubicBezTo>
                    <a:cubicBezTo>
                      <a:pt x="737771" y="1146539"/>
                      <a:pt x="671758" y="1173883"/>
                      <a:pt x="602926" y="1173883"/>
                    </a:cubicBezTo>
                    <a:lnTo>
                      <a:pt x="259531" y="1173883"/>
                    </a:lnTo>
                    <a:cubicBezTo>
                      <a:pt x="190699" y="1173883"/>
                      <a:pt x="124686" y="1146539"/>
                      <a:pt x="76015" y="1097868"/>
                    </a:cubicBezTo>
                    <a:cubicBezTo>
                      <a:pt x="27343" y="1049196"/>
                      <a:pt x="0" y="983184"/>
                      <a:pt x="0" y="914352"/>
                    </a:cubicBezTo>
                    <a:lnTo>
                      <a:pt x="0" y="259531"/>
                    </a:lnTo>
                    <a:cubicBezTo>
                      <a:pt x="0" y="190699"/>
                      <a:pt x="27343" y="124686"/>
                      <a:pt x="76015" y="76015"/>
                    </a:cubicBezTo>
                    <a:cubicBezTo>
                      <a:pt x="124686" y="27343"/>
                      <a:pt x="190699" y="0"/>
                      <a:pt x="259531" y="0"/>
                    </a:cubicBezTo>
                    <a:lnTo>
                      <a:pt x="602926" y="0"/>
                    </a:lnTo>
                    <a:cubicBezTo>
                      <a:pt x="671758" y="0"/>
                      <a:pt x="737771" y="27343"/>
                      <a:pt x="786442" y="76015"/>
                    </a:cubicBezTo>
                    <a:cubicBezTo>
                      <a:pt x="835114" y="124686"/>
                      <a:pt x="862457" y="190699"/>
                      <a:pt x="862457" y="259531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0" y="-47625"/>
                <a:ext cx="862457" cy="1221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16030179" y="415256"/>
              <a:ext cx="4324274" cy="4352906"/>
              <a:chOff x="0" y="0"/>
              <a:chExt cx="3476520" cy="3499539"/>
            </a:xfrm>
          </p:grpSpPr>
          <p:pic>
            <p:nvPicPr>
              <p:cNvPr id="17" name="Picture 17"/>
              <p:cNvPicPr>
                <a:picLocks noChangeAspect="1"/>
              </p:cNvPicPr>
              <p:nvPr/>
            </p:nvPicPr>
            <p:blipFill>
              <a:blip r:embed="rId4"/>
              <a:srcRect t="11904" b="14612"/>
              <a:stretch>
                <a:fillRect/>
              </a:stretch>
            </p:blipFill>
            <p:spPr>
              <a:xfrm>
                <a:off x="0" y="0"/>
                <a:ext cx="3476520" cy="3499539"/>
              </a:xfrm>
              <a:prstGeom prst="rect">
                <a:avLst/>
              </a:prstGeom>
            </p:spPr>
          </p:pic>
        </p:grpSp>
        <p:grpSp>
          <p:nvGrpSpPr>
            <p:cNvPr id="18" name="Group 18"/>
            <p:cNvGrpSpPr/>
            <p:nvPr/>
          </p:nvGrpSpPr>
          <p:grpSpPr>
            <a:xfrm>
              <a:off x="5141783" y="109451"/>
              <a:ext cx="4947290" cy="6725901"/>
              <a:chOff x="0" y="0"/>
              <a:chExt cx="862457" cy="117251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62457" cy="1172513"/>
              </a:xfrm>
              <a:custGeom>
                <a:avLst/>
                <a:gdLst/>
                <a:ahLst/>
                <a:cxnLst/>
                <a:rect l="l" t="t" r="r" b="b"/>
                <a:pathLst>
                  <a:path w="862457" h="1172513">
                    <a:moveTo>
                      <a:pt x="862457" y="259531"/>
                    </a:moveTo>
                    <a:lnTo>
                      <a:pt x="862457" y="912983"/>
                    </a:lnTo>
                    <a:cubicBezTo>
                      <a:pt x="862457" y="981815"/>
                      <a:pt x="835114" y="1047827"/>
                      <a:pt x="786442" y="1096499"/>
                    </a:cubicBezTo>
                    <a:cubicBezTo>
                      <a:pt x="737771" y="1145170"/>
                      <a:pt x="671758" y="1172513"/>
                      <a:pt x="602926" y="1172513"/>
                    </a:cubicBezTo>
                    <a:lnTo>
                      <a:pt x="259531" y="1172513"/>
                    </a:lnTo>
                    <a:cubicBezTo>
                      <a:pt x="190699" y="1172513"/>
                      <a:pt x="124686" y="1145170"/>
                      <a:pt x="76015" y="1096499"/>
                    </a:cubicBezTo>
                    <a:cubicBezTo>
                      <a:pt x="27343" y="1047827"/>
                      <a:pt x="0" y="981815"/>
                      <a:pt x="0" y="912983"/>
                    </a:cubicBezTo>
                    <a:lnTo>
                      <a:pt x="0" y="259531"/>
                    </a:lnTo>
                    <a:cubicBezTo>
                      <a:pt x="0" y="190699"/>
                      <a:pt x="27343" y="124686"/>
                      <a:pt x="76015" y="76015"/>
                    </a:cubicBezTo>
                    <a:cubicBezTo>
                      <a:pt x="124686" y="27343"/>
                      <a:pt x="190699" y="0"/>
                      <a:pt x="259531" y="0"/>
                    </a:cubicBezTo>
                    <a:lnTo>
                      <a:pt x="602926" y="0"/>
                    </a:lnTo>
                    <a:cubicBezTo>
                      <a:pt x="671758" y="0"/>
                      <a:pt x="737771" y="27343"/>
                      <a:pt x="786442" y="76015"/>
                    </a:cubicBezTo>
                    <a:cubicBezTo>
                      <a:pt x="835114" y="124686"/>
                      <a:pt x="862457" y="190699"/>
                      <a:pt x="862457" y="259531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0" y="-47625"/>
                <a:ext cx="862457" cy="122013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5404995" y="375382"/>
              <a:ext cx="4420866" cy="4581319"/>
              <a:chOff x="0" y="0"/>
              <a:chExt cx="3554176" cy="3683173"/>
            </a:xfrm>
          </p:grpSpPr>
          <p:pic>
            <p:nvPicPr>
              <p:cNvPr id="22" name="Picture 22"/>
              <p:cNvPicPr>
                <a:picLocks noChangeAspect="1"/>
              </p:cNvPicPr>
              <p:nvPr/>
            </p:nvPicPr>
            <p:blipFill>
              <a:blip r:embed="rId5"/>
              <a:srcRect t="6555" b="17794"/>
              <a:stretch>
                <a:fillRect/>
              </a:stretch>
            </p:blipFill>
            <p:spPr>
              <a:xfrm>
                <a:off x="0" y="0"/>
                <a:ext cx="3554176" cy="3683173"/>
              </a:xfrm>
              <a:prstGeom prst="rect">
                <a:avLst/>
              </a:prstGeom>
            </p:spPr>
          </p:pic>
        </p:grpSp>
        <p:sp>
          <p:nvSpPr>
            <p:cNvPr id="23" name="TextBox 23"/>
            <p:cNvSpPr txBox="1"/>
            <p:nvPr/>
          </p:nvSpPr>
          <p:spPr>
            <a:xfrm>
              <a:off x="1893821" y="5029223"/>
              <a:ext cx="3160427" cy="14242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48"/>
                </a:lnSpc>
              </a:pPr>
              <a:r>
                <a:rPr lang="en-US" sz="3540" b="1" spc="177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CLAUDIA ALVES</a:t>
              </a: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109451"/>
              <a:ext cx="4947290" cy="6733755"/>
              <a:chOff x="0" y="0"/>
              <a:chExt cx="862457" cy="1173883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62457" cy="1173883"/>
              </a:xfrm>
              <a:custGeom>
                <a:avLst/>
                <a:gdLst/>
                <a:ahLst/>
                <a:cxnLst/>
                <a:rect l="l" t="t" r="r" b="b"/>
                <a:pathLst>
                  <a:path w="862457" h="1173883">
                    <a:moveTo>
                      <a:pt x="862457" y="259531"/>
                    </a:moveTo>
                    <a:lnTo>
                      <a:pt x="862457" y="914352"/>
                    </a:lnTo>
                    <a:cubicBezTo>
                      <a:pt x="862457" y="983184"/>
                      <a:pt x="835114" y="1049196"/>
                      <a:pt x="786442" y="1097868"/>
                    </a:cubicBezTo>
                    <a:cubicBezTo>
                      <a:pt x="737771" y="1146539"/>
                      <a:pt x="671758" y="1173883"/>
                      <a:pt x="602926" y="1173883"/>
                    </a:cubicBezTo>
                    <a:lnTo>
                      <a:pt x="259531" y="1173883"/>
                    </a:lnTo>
                    <a:cubicBezTo>
                      <a:pt x="190699" y="1173883"/>
                      <a:pt x="124686" y="1146539"/>
                      <a:pt x="76015" y="1097868"/>
                    </a:cubicBezTo>
                    <a:cubicBezTo>
                      <a:pt x="27343" y="1049196"/>
                      <a:pt x="0" y="983184"/>
                      <a:pt x="0" y="914352"/>
                    </a:cubicBezTo>
                    <a:lnTo>
                      <a:pt x="0" y="259531"/>
                    </a:lnTo>
                    <a:cubicBezTo>
                      <a:pt x="0" y="190699"/>
                      <a:pt x="27343" y="124686"/>
                      <a:pt x="76015" y="76015"/>
                    </a:cubicBezTo>
                    <a:cubicBezTo>
                      <a:pt x="124686" y="27343"/>
                      <a:pt x="190699" y="0"/>
                      <a:pt x="259531" y="0"/>
                    </a:cubicBezTo>
                    <a:lnTo>
                      <a:pt x="602926" y="0"/>
                    </a:lnTo>
                    <a:cubicBezTo>
                      <a:pt x="671758" y="0"/>
                      <a:pt x="737771" y="27343"/>
                      <a:pt x="786442" y="76015"/>
                    </a:cubicBezTo>
                    <a:cubicBezTo>
                      <a:pt x="835114" y="124686"/>
                      <a:pt x="862457" y="190699"/>
                      <a:pt x="862457" y="259531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-47625"/>
                <a:ext cx="862457" cy="122150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3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63212" y="375382"/>
              <a:ext cx="4420866" cy="4581319"/>
              <a:chOff x="0" y="0"/>
              <a:chExt cx="3554176" cy="3683173"/>
            </a:xfrm>
          </p:grpSpPr>
          <p:pic>
            <p:nvPicPr>
              <p:cNvPr id="28" name="Picture 28"/>
              <p:cNvPicPr>
                <a:picLocks noChangeAspect="1"/>
              </p:cNvPicPr>
              <p:nvPr/>
            </p:nvPicPr>
            <p:blipFill>
              <a:blip r:embed="rId6"/>
              <a:srcRect t="12175" b="12175"/>
              <a:stretch>
                <a:fillRect/>
              </a:stretch>
            </p:blipFill>
            <p:spPr>
              <a:xfrm>
                <a:off x="0" y="0"/>
                <a:ext cx="3554176" cy="3683173"/>
              </a:xfrm>
              <a:prstGeom prst="rect">
                <a:avLst/>
              </a:prstGeom>
            </p:spPr>
          </p:pic>
        </p:grpSp>
        <p:sp>
          <p:nvSpPr>
            <p:cNvPr id="29" name="TextBox 29"/>
            <p:cNvSpPr txBox="1"/>
            <p:nvPr/>
          </p:nvSpPr>
          <p:spPr>
            <a:xfrm>
              <a:off x="553645" y="6105359"/>
              <a:ext cx="3621099" cy="4958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07"/>
                </a:lnSpc>
              </a:pPr>
              <a:r>
                <a:rPr lang="en-US" sz="2422" b="1" spc="121" dirty="0">
                  <a:solidFill>
                    <a:srgbClr val="4BD1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IT22215574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36605" y="5076266"/>
              <a:ext cx="4947290" cy="89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KAUSHAN</a:t>
              </a:r>
            </a:p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M.K.A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78755" y="6105359"/>
              <a:ext cx="3621098" cy="489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07"/>
                </a:lnSpc>
              </a:pPr>
              <a:r>
                <a:rPr lang="en-US" sz="2422" b="1" spc="121">
                  <a:solidFill>
                    <a:srgbClr val="4BD1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IT22569622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5731426" y="5138674"/>
              <a:ext cx="4947290" cy="451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JAYAWEERA J.P.S.P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365126" y="6130874"/>
              <a:ext cx="3621098" cy="489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07"/>
                </a:lnSpc>
              </a:pPr>
              <a:r>
                <a:rPr lang="en-US" sz="2422" b="1" spc="121">
                  <a:solidFill>
                    <a:srgbClr val="4BD1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IT22277572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41783" y="5138674"/>
              <a:ext cx="4947290" cy="89415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SUMANAWEERA </a:t>
              </a:r>
            </a:p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A. D. H. 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788707" y="6105359"/>
              <a:ext cx="3621098" cy="48983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07"/>
                </a:lnSpc>
              </a:pPr>
              <a:r>
                <a:rPr lang="en-US" sz="2422" b="1" spc="121">
                  <a:solidFill>
                    <a:srgbClr val="4BD1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IT22283344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5138674"/>
              <a:ext cx="4947290" cy="4518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86"/>
                </a:lnSpc>
              </a:pPr>
              <a:r>
                <a:rPr lang="en-US" sz="2238" b="1" spc="111">
                  <a:solidFill>
                    <a:srgbClr val="FFFBFB"/>
                  </a:solidFill>
                  <a:latin typeface="Almarai Bold"/>
                  <a:ea typeface="Almarai Bold"/>
                  <a:cs typeface="Almarai Bold"/>
                  <a:sym typeface="Almarai Bold"/>
                </a:rPr>
                <a:t>JAYAWEERA R.C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38" name="Freeform 38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42" name="Group 42"/>
          <p:cNvGrpSpPr/>
          <p:nvPr/>
        </p:nvGrpSpPr>
        <p:grpSpPr>
          <a:xfrm>
            <a:off x="-3389015" y="7042432"/>
            <a:ext cx="4944486" cy="4944486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397D84">
                      <a:alpha val="100000"/>
                    </a:srgbClr>
                  </a:gs>
                  <a:gs pos="100000">
                    <a:srgbClr val="03070E">
                      <a:alpha val="47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46" name="Freeform 46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7" name="Group 47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53" name="Freeform 53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4" name="TextBox 5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57" name="TextBox 5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916772" y="-4632294"/>
            <a:ext cx="18756170" cy="14537813"/>
            <a:chOff x="0" y="0"/>
            <a:chExt cx="812800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629997"/>
            </a:xfrm>
            <a:custGeom>
              <a:avLst/>
              <a:gdLst/>
              <a:ahLst/>
              <a:cxnLst/>
              <a:rect l="l" t="t" r="r" b="b"/>
              <a:pathLst>
                <a:path w="812800" h="629997">
                  <a:moveTo>
                    <a:pt x="609600" y="0"/>
                  </a:moveTo>
                  <a:cubicBezTo>
                    <a:pt x="721824" y="0"/>
                    <a:pt x="812800" y="141030"/>
                    <a:pt x="812800" y="314999"/>
                  </a:cubicBezTo>
                  <a:cubicBezTo>
                    <a:pt x="812800" y="488968"/>
                    <a:pt x="721824" y="629997"/>
                    <a:pt x="609600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w="66675" cap="sq">
              <a:gradFill>
                <a:gsLst>
                  <a:gs pos="0">
                    <a:srgbClr val="397D84">
                      <a:alpha val="85000"/>
                    </a:srgbClr>
                  </a:gs>
                  <a:gs pos="100000">
                    <a:srgbClr val="03070E">
                      <a:alpha val="3995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784693" y="55904"/>
            <a:ext cx="12537924" cy="152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8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TABLE OF CONTENT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8" name="Freeform 8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2" name="Group 12"/>
          <p:cNvGrpSpPr/>
          <p:nvPr/>
        </p:nvGrpSpPr>
        <p:grpSpPr>
          <a:xfrm>
            <a:off x="-2146602" y="6786057"/>
            <a:ext cx="4944486" cy="494448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952500" cap="sq">
              <a:gradFill>
                <a:gsLst>
                  <a:gs pos="0">
                    <a:srgbClr val="397D84">
                      <a:alpha val="100000"/>
                    </a:srgbClr>
                  </a:gs>
                  <a:gs pos="100000">
                    <a:srgbClr val="03070E">
                      <a:alpha val="47000"/>
                    </a:srgbClr>
                  </a:gs>
                </a:gsLst>
                <a:lin ang="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6" name="Freeform 16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20" name="Group 20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902125" y="1698625"/>
            <a:ext cx="8235847" cy="6851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Introduction to problem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Solution Overview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Technologies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Architecture Overview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Gateway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Advantages of API Gateway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Folder Structure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Swagger Screenshots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Microservices Identified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DIrect vs testing via gateway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  <a:p>
            <a:pPr marL="755642" lvl="1" indent="-377821" algn="l">
              <a:lnSpc>
                <a:spcPts val="4549"/>
              </a:lnSpc>
              <a:buAutoNum type="arabicPeriod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4176168" y="3163663"/>
            <a:ext cx="4111832" cy="3513747"/>
          </a:xfrm>
          <a:custGeom>
            <a:avLst/>
            <a:gdLst/>
            <a:ahLst/>
            <a:cxnLst/>
            <a:rect l="l" t="t" r="r" b="b"/>
            <a:pathLst>
              <a:path w="4111832" h="3513747">
                <a:moveTo>
                  <a:pt x="0" y="0"/>
                </a:moveTo>
                <a:lnTo>
                  <a:pt x="4111832" y="0"/>
                </a:lnTo>
                <a:lnTo>
                  <a:pt x="4111832" y="3513748"/>
                </a:lnTo>
                <a:lnTo>
                  <a:pt x="0" y="35137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108114" y="286064"/>
            <a:ext cx="16519813" cy="1358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INTRODUCTION  TO  PROBLEM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546800" y="3135088"/>
            <a:ext cx="1370849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Traditional monolithic systems are hard to scale and maintain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99951" y="3843114"/>
            <a:ext cx="7627776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Tight coupling between components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99951" y="4551139"/>
            <a:ext cx="1106043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Difficult to update or deploy features independently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46800" y="6408515"/>
            <a:ext cx="2656475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9"/>
              </a:lnSpc>
              <a:spcBef>
                <a:spcPct val="0"/>
              </a:spcBef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Result: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27243" y="7192740"/>
            <a:ext cx="14218486" cy="644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Slow development, high downtime risk, poor scalability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599951" y="5130577"/>
            <a:ext cx="1106043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Large codebase becomes hard to maintain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3027198" y="4987019"/>
          <a:ext cx="10355558" cy="3405595"/>
        </p:xfrm>
        <a:graphic>
          <a:graphicData uri="http://schemas.openxmlformats.org/drawingml/2006/table">
            <a:tbl>
              <a:tblPr/>
              <a:tblGrid>
                <a:gridCol w="38277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27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4662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Role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6271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4 Microservices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Each handles ONE business domain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4662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9FAFB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API Gateway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Single entry point (port 3000)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Freeform 21"/>
          <p:cNvSpPr/>
          <p:nvPr/>
        </p:nvSpPr>
        <p:spPr>
          <a:xfrm>
            <a:off x="14849391" y="3163663"/>
            <a:ext cx="2538393" cy="4025874"/>
          </a:xfrm>
          <a:custGeom>
            <a:avLst/>
            <a:gdLst/>
            <a:ahLst/>
            <a:cxnLst/>
            <a:rect l="l" t="t" r="r" b="b"/>
            <a:pathLst>
              <a:path w="2538393" h="4025874">
                <a:moveTo>
                  <a:pt x="0" y="0"/>
                </a:moveTo>
                <a:lnTo>
                  <a:pt x="2538394" y="0"/>
                </a:lnTo>
                <a:lnTo>
                  <a:pt x="2538394" y="4025874"/>
                </a:lnTo>
                <a:lnTo>
                  <a:pt x="0" y="4025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6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2291161" y="135333"/>
            <a:ext cx="1409973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SOLUTION OVERVIEW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546800" y="3135088"/>
            <a:ext cx="13708492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Microservices Architecture Approach: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599951" y="3843114"/>
            <a:ext cx="1208042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5" lvl="1" indent="-323848" algn="l">
              <a:lnSpc>
                <a:spcPts val="3899"/>
              </a:lnSpc>
              <a:buFont typeface="Arial"/>
              <a:buChar char="•"/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Each microservice is independent, deployable, and scalable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4357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1092126" y="2293471"/>
            <a:ext cx="2771674" cy="2771674"/>
          </a:xfrm>
          <a:custGeom>
            <a:avLst/>
            <a:gdLst/>
            <a:ahLst/>
            <a:cxnLst/>
            <a:rect l="l" t="t" r="r" b="b"/>
            <a:pathLst>
              <a:path w="2771674" h="2771674">
                <a:moveTo>
                  <a:pt x="0" y="0"/>
                </a:moveTo>
                <a:lnTo>
                  <a:pt x="2771674" y="0"/>
                </a:lnTo>
                <a:lnTo>
                  <a:pt x="2771674" y="2771674"/>
                </a:lnTo>
                <a:lnTo>
                  <a:pt x="0" y="27716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5321125" y="1375182"/>
            <a:ext cx="1347441" cy="2872451"/>
          </a:xfrm>
          <a:custGeom>
            <a:avLst/>
            <a:gdLst/>
            <a:ahLst/>
            <a:cxnLst/>
            <a:rect l="l" t="t" r="r" b="b"/>
            <a:pathLst>
              <a:path w="1347441" h="2872451">
                <a:moveTo>
                  <a:pt x="0" y="0"/>
                </a:moveTo>
                <a:lnTo>
                  <a:pt x="1347441" y="0"/>
                </a:lnTo>
                <a:lnTo>
                  <a:pt x="1347441" y="2872451"/>
                </a:lnTo>
                <a:lnTo>
                  <a:pt x="0" y="28724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921521" y="6233014"/>
            <a:ext cx="2590483" cy="2590483"/>
          </a:xfrm>
          <a:custGeom>
            <a:avLst/>
            <a:gdLst/>
            <a:ahLst/>
            <a:cxnLst/>
            <a:rect l="l" t="t" r="r" b="b"/>
            <a:pathLst>
              <a:path w="2590483" h="2590483">
                <a:moveTo>
                  <a:pt x="0" y="0"/>
                </a:moveTo>
                <a:lnTo>
                  <a:pt x="2590483" y="0"/>
                </a:lnTo>
                <a:lnTo>
                  <a:pt x="2590483" y="2590483"/>
                </a:lnTo>
                <a:lnTo>
                  <a:pt x="0" y="259048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6472128" y="2533067"/>
            <a:ext cx="3004622" cy="3004622"/>
          </a:xfrm>
          <a:custGeom>
            <a:avLst/>
            <a:gdLst/>
            <a:ahLst/>
            <a:cxnLst/>
            <a:rect l="l" t="t" r="r" b="b"/>
            <a:pathLst>
              <a:path w="3004622" h="3004622">
                <a:moveTo>
                  <a:pt x="0" y="0"/>
                </a:moveTo>
                <a:lnTo>
                  <a:pt x="3004622" y="0"/>
                </a:lnTo>
                <a:lnTo>
                  <a:pt x="3004622" y="3004622"/>
                </a:lnTo>
                <a:lnTo>
                  <a:pt x="0" y="30046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2902654" y="5433599"/>
            <a:ext cx="3635406" cy="2229378"/>
          </a:xfrm>
          <a:custGeom>
            <a:avLst/>
            <a:gdLst/>
            <a:ahLst/>
            <a:cxnLst/>
            <a:rect l="l" t="t" r="r" b="b"/>
            <a:pathLst>
              <a:path w="3635406" h="2229378">
                <a:moveTo>
                  <a:pt x="0" y="0"/>
                </a:moveTo>
                <a:lnTo>
                  <a:pt x="3635406" y="0"/>
                </a:lnTo>
                <a:lnTo>
                  <a:pt x="3635406" y="2229378"/>
                </a:lnTo>
                <a:lnTo>
                  <a:pt x="0" y="222937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057889" y="133660"/>
            <a:ext cx="1689998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TECHNOLOGIES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9" name="TextBox 29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30" name="TextBox 30"/>
          <p:cNvSpPr txBox="1"/>
          <p:nvPr/>
        </p:nvSpPr>
        <p:spPr>
          <a:xfrm>
            <a:off x="798634" y="3250684"/>
            <a:ext cx="6729618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8" lvl="1" indent="-485779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NESTJS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8634" y="7577252"/>
            <a:ext cx="6729618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85779" lvl="1" algn="l">
              <a:lnSpc>
                <a:spcPts val="6300"/>
              </a:lnSpc>
            </a:pPr>
            <a:endParaRPr lang="en-US" sz="4500" b="1" dirty="0">
              <a:solidFill>
                <a:srgbClr val="FFFFFF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798634" y="4161908"/>
            <a:ext cx="6729618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8" lvl="1" indent="-485779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MONGODB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8634" y="5314791"/>
            <a:ext cx="6729618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8" lvl="1" indent="-485779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SWAGGER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98634" y="6427903"/>
            <a:ext cx="6729618" cy="7715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71558" lvl="1" indent="-485779" algn="l">
              <a:lnSpc>
                <a:spcPts val="6300"/>
              </a:lnSpc>
              <a:buFont typeface="Arial"/>
              <a:buChar char="•"/>
            </a:pPr>
            <a:r>
              <a:rPr lang="en-US" sz="45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MONGOOSE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7843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 rot="36000">
            <a:off x="167985" y="1334751"/>
            <a:ext cx="15783877" cy="8080945"/>
          </a:xfrm>
          <a:custGeom>
            <a:avLst/>
            <a:gdLst/>
            <a:ahLst/>
            <a:cxnLst/>
            <a:rect l="l" t="t" r="r" b="b"/>
            <a:pathLst>
              <a:path w="15783877" h="8080945">
                <a:moveTo>
                  <a:pt x="0" y="164426"/>
                </a:moveTo>
                <a:lnTo>
                  <a:pt x="15700973" y="0"/>
                </a:lnTo>
                <a:lnTo>
                  <a:pt x="15783877" y="7916519"/>
                </a:lnTo>
                <a:lnTo>
                  <a:pt x="82905" y="8080945"/>
                </a:lnTo>
                <a:lnTo>
                  <a:pt x="0" y="164426"/>
                </a:lnTo>
                <a:close/>
              </a:path>
            </a:pathLst>
          </a:custGeom>
          <a:blipFill>
            <a:blip r:embed="rId5"/>
            <a:stretch>
              <a:fillRect l="-233" t="-214" r="-385" b="-15493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577375" y="38410"/>
            <a:ext cx="17133251" cy="1704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OVERVIEW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862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633448" y="1305559"/>
          <a:ext cx="16939696" cy="5789060"/>
        </p:xfrm>
        <a:graphic>
          <a:graphicData uri="http://schemas.openxmlformats.org/drawingml/2006/table">
            <a:tbl>
              <a:tblPr/>
              <a:tblGrid>
                <a:gridCol w="846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33508">
                <a:tc rowSpan="4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1022">
                <a:tc v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7265">
                <a:tc v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7265">
                <a:tc vMerge="1">
                  <a:txBody>
                    <a:bodyPr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1902125" y="3258304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Product ServiProduct Service (5001) 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902125" y="3767655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Customer Service (5002)</a:t>
            </a:r>
          </a:p>
        </p:txBody>
      </p:sp>
      <p:sp>
        <p:nvSpPr>
          <p:cNvPr id="23" name="AutoShape 23"/>
          <p:cNvSpPr/>
          <p:nvPr/>
        </p:nvSpPr>
        <p:spPr>
          <a:xfrm>
            <a:off x="1240365" y="3058253"/>
            <a:ext cx="599023" cy="47991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1240365" y="3099693"/>
            <a:ext cx="626593" cy="81279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1240365" y="3141133"/>
            <a:ext cx="612552" cy="133985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6" name="AutoShape 26"/>
          <p:cNvSpPr/>
          <p:nvPr/>
        </p:nvSpPr>
        <p:spPr>
          <a:xfrm>
            <a:off x="1240365" y="3140962"/>
            <a:ext cx="598512" cy="1769829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9361709" y="3665657"/>
            <a:ext cx="4172889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 Gateway→(3000)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597463" y="4496363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/products → Product Service (5001)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97463" y="5005714"/>
            <a:ext cx="6790322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/customers → Customer Service (5002)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597463" y="5515065"/>
            <a:ext cx="6790322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/inventory → Inventory Service (5003)</a:t>
            </a:r>
          </a:p>
        </p:txBody>
      </p:sp>
      <p:sp>
        <p:nvSpPr>
          <p:cNvPr id="31" name="AutoShape 31"/>
          <p:cNvSpPr/>
          <p:nvPr/>
        </p:nvSpPr>
        <p:spPr>
          <a:xfrm>
            <a:off x="9901869" y="4125397"/>
            <a:ext cx="695594" cy="601471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2" name="AutoShape 32"/>
          <p:cNvSpPr/>
          <p:nvPr/>
        </p:nvSpPr>
        <p:spPr>
          <a:xfrm>
            <a:off x="9901869" y="4125397"/>
            <a:ext cx="695594" cy="1110823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3" name="AutoShape 33"/>
          <p:cNvSpPr/>
          <p:nvPr/>
        </p:nvSpPr>
        <p:spPr>
          <a:xfrm>
            <a:off x="9901869" y="4125397"/>
            <a:ext cx="762331" cy="2137225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4" name="AutoShape 34"/>
          <p:cNvSpPr/>
          <p:nvPr/>
        </p:nvSpPr>
        <p:spPr>
          <a:xfrm>
            <a:off x="9901869" y="4125397"/>
            <a:ext cx="695594" cy="1620174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9349099" y="2598513"/>
            <a:ext cx="114364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</a:t>
            </a:r>
          </a:p>
        </p:txBody>
      </p:sp>
      <p:sp>
        <p:nvSpPr>
          <p:cNvPr id="36" name="AutoShape 36"/>
          <p:cNvSpPr/>
          <p:nvPr/>
        </p:nvSpPr>
        <p:spPr>
          <a:xfrm>
            <a:off x="9920919" y="3058253"/>
            <a:ext cx="0" cy="692176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15032933" y="926499"/>
            <a:ext cx="2902383" cy="2869731"/>
          </a:xfrm>
          <a:custGeom>
            <a:avLst/>
            <a:gdLst/>
            <a:ahLst/>
            <a:cxnLst/>
            <a:rect l="l" t="t" r="r" b="b"/>
            <a:pathLst>
              <a:path w="2902383" h="2869731">
                <a:moveTo>
                  <a:pt x="0" y="0"/>
                </a:moveTo>
                <a:lnTo>
                  <a:pt x="2902383" y="0"/>
                </a:lnTo>
                <a:lnTo>
                  <a:pt x="2902383" y="2869731"/>
                </a:lnTo>
                <a:lnTo>
                  <a:pt x="0" y="28697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6794012" y="4550920"/>
            <a:ext cx="1418687" cy="1985441"/>
          </a:xfrm>
          <a:custGeom>
            <a:avLst/>
            <a:gdLst/>
            <a:ahLst/>
            <a:cxnLst/>
            <a:rect l="l" t="t" r="r" b="b"/>
            <a:pathLst>
              <a:path w="1418687" h="1985441">
                <a:moveTo>
                  <a:pt x="0" y="0"/>
                </a:moveTo>
                <a:lnTo>
                  <a:pt x="1418688" y="0"/>
                </a:lnTo>
                <a:lnTo>
                  <a:pt x="1418688" y="1985441"/>
                </a:lnTo>
                <a:lnTo>
                  <a:pt x="0" y="1985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923004" y="-161925"/>
            <a:ext cx="14647337" cy="14674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40"/>
              </a:lnSpc>
              <a:spcBef>
                <a:spcPct val="0"/>
              </a:spcBef>
            </a:pPr>
            <a:r>
              <a:rPr lang="en-US" sz="86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API GATEWAY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43" name="TextBox 43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44" name="TextBox 44"/>
          <p:cNvSpPr txBox="1"/>
          <p:nvPr/>
        </p:nvSpPr>
        <p:spPr>
          <a:xfrm>
            <a:off x="633448" y="7161296"/>
            <a:ext cx="15614261" cy="170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2" lvl="1" indent="-377821" algn="l">
              <a:lnSpc>
                <a:spcPts val="4549"/>
              </a:lnSpc>
              <a:buFont typeface="Arial"/>
              <a:buChar char="•"/>
            </a:pPr>
            <a:r>
              <a:rPr lang="en-US" sz="34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API Gateway hides multiple service ports and provides one centralized access point for the entire system and Client only needs one endpoint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57889" y="1637068"/>
            <a:ext cx="5197888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Without API Gateway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42494" y="2598513"/>
            <a:ext cx="1143641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7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Client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902125" y="4277006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Inventory Service (5003)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902125" y="4786357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Order Service (5004)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0349961" y="1860906"/>
            <a:ext cx="4464179" cy="476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9"/>
              </a:lnSpc>
            </a:pPr>
            <a:r>
              <a:rPr lang="en-US" sz="29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With API Gateway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0664200" y="6032117"/>
            <a:ext cx="6310574" cy="432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699" b="1">
                <a:solidFill>
                  <a:srgbClr val="FFFFFF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/orders → Order Service (5004)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862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3249934" y="2223031"/>
          <a:ext cx="10905092" cy="5331960"/>
        </p:xfrm>
        <a:graphic>
          <a:graphicData uri="http://schemas.openxmlformats.org/drawingml/2006/table">
            <a:tbl>
              <a:tblPr/>
              <a:tblGrid>
                <a:gridCol w="54525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525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32990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Advantage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Benefit in Our Implementation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299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Single Entry Point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Client uses ONE URL (port 3000) instead of 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99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Service Abstraction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Services can move/change without client updates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990">
                <a:tc>
                  <a:txBody>
                    <a:bodyPr/>
                    <a:lstStyle/>
                    <a:p>
                      <a:pPr algn="ctr">
                        <a:lnSpc>
                          <a:spcPts val="3079"/>
                        </a:lnSpc>
                        <a:defRPr/>
                      </a:pPr>
                      <a:r>
                        <a:rPr lang="en-US" sz="21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Simplified Client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079"/>
                        </a:lnSpc>
                        <a:defRPr/>
                      </a:pPr>
                      <a:r>
                        <a:rPr lang="en-US" sz="21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Frontend doesn't need to know service locations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2186135" y="202643"/>
            <a:ext cx="12891137" cy="921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6"/>
              </a:lnSpc>
              <a:spcBef>
                <a:spcPct val="0"/>
              </a:spcBef>
            </a:pPr>
            <a:r>
              <a:rPr lang="en-US" sz="5382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ADVANTAGES OF API GATEWAY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90980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446836" y="-77116"/>
            <a:ext cx="15169645" cy="10106776"/>
          </a:xfrm>
          <a:custGeom>
            <a:avLst/>
            <a:gdLst/>
            <a:ahLst/>
            <a:cxnLst/>
            <a:rect l="l" t="t" r="r" b="b"/>
            <a:pathLst>
              <a:path w="15169645" h="10106776">
                <a:moveTo>
                  <a:pt x="0" y="0"/>
                </a:moveTo>
                <a:lnTo>
                  <a:pt x="15169645" y="0"/>
                </a:lnTo>
                <a:lnTo>
                  <a:pt x="15169645" y="10106776"/>
                </a:lnTo>
                <a:lnTo>
                  <a:pt x="0" y="101067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08540" y="5143500"/>
            <a:ext cx="6539504" cy="3670296"/>
          </a:xfrm>
          <a:custGeom>
            <a:avLst/>
            <a:gdLst/>
            <a:ahLst/>
            <a:cxnLst/>
            <a:rect l="l" t="t" r="r" b="b"/>
            <a:pathLst>
              <a:path w="6539504" h="3670296">
                <a:moveTo>
                  <a:pt x="0" y="0"/>
                </a:moveTo>
                <a:lnTo>
                  <a:pt x="6539503" y="0"/>
                </a:lnTo>
                <a:lnTo>
                  <a:pt x="6539503" y="3670296"/>
                </a:lnTo>
                <a:lnTo>
                  <a:pt x="0" y="3670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1902125" y="133660"/>
            <a:ext cx="13813968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FOLDER STRUCTURE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7528252" y="2205888"/>
            <a:ext cx="9430111" cy="6589290"/>
            <a:chOff x="0" y="0"/>
            <a:chExt cx="12573481" cy="87857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573481" cy="6003837"/>
            </a:xfrm>
            <a:custGeom>
              <a:avLst/>
              <a:gdLst/>
              <a:ahLst/>
              <a:cxnLst/>
              <a:rect l="l" t="t" r="r" b="b"/>
              <a:pathLst>
                <a:path w="12573481" h="6003837">
                  <a:moveTo>
                    <a:pt x="0" y="0"/>
                  </a:moveTo>
                  <a:lnTo>
                    <a:pt x="12573481" y="0"/>
                  </a:lnTo>
                  <a:lnTo>
                    <a:pt x="12573481" y="6003837"/>
                  </a:lnTo>
                  <a:lnTo>
                    <a:pt x="0" y="60038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6003837"/>
              <a:ext cx="12573481" cy="2781883"/>
            </a:xfrm>
            <a:custGeom>
              <a:avLst/>
              <a:gdLst/>
              <a:ahLst/>
              <a:cxnLst/>
              <a:rect l="l" t="t" r="r" b="b"/>
              <a:pathLst>
                <a:path w="12573481" h="2781883">
                  <a:moveTo>
                    <a:pt x="0" y="0"/>
                  </a:moveTo>
                  <a:lnTo>
                    <a:pt x="12573481" y="0"/>
                  </a:lnTo>
                  <a:lnTo>
                    <a:pt x="12573481" y="2781883"/>
                  </a:lnTo>
                  <a:lnTo>
                    <a:pt x="0" y="27818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57889" y="133660"/>
            <a:ext cx="1689998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SWAGGER SCREENSHOTS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09007" y="3757652"/>
            <a:ext cx="7126169" cy="2087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API</a:t>
            </a:r>
          </a:p>
          <a:p>
            <a:pPr algn="ctr">
              <a:lnSpc>
                <a:spcPts val="7560"/>
              </a:lnSpc>
              <a:spcBef>
                <a:spcPct val="0"/>
              </a:spcBef>
            </a:pPr>
            <a:r>
              <a:rPr lang="en-US" sz="54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GATEWAY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20" name="Table 20"/>
          <p:cNvGraphicFramePr>
            <a:graphicFrameLocks noGrp="1"/>
          </p:cNvGraphicFramePr>
          <p:nvPr/>
        </p:nvGraphicFramePr>
        <p:xfrm>
          <a:off x="415636" y="2209165"/>
          <a:ext cx="16166834" cy="6241985"/>
        </p:xfrm>
        <a:graphic>
          <a:graphicData uri="http://schemas.openxmlformats.org/drawingml/2006/table">
            <a:tbl>
              <a:tblPr/>
              <a:tblGrid>
                <a:gridCol w="67419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7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673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48397"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199"/>
                        </a:lnSpc>
                        <a:defRPr/>
                      </a:pPr>
                      <a:r>
                        <a:rPr lang="en-US" sz="29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Owned By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4839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5001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Product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IT22283344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839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Customer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IT22569622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839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Inventory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IT22277572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48397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5004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Medium"/>
                          <a:ea typeface="Canva Sans Medium"/>
                          <a:cs typeface="Canva Sans Medium"/>
                          <a:sym typeface="Canva Sans Medium"/>
                        </a:rPr>
                        <a:t>Order Service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FFFFFF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IT22569622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1" name="TextBox 21"/>
          <p:cNvSpPr txBox="1"/>
          <p:nvPr/>
        </p:nvSpPr>
        <p:spPr>
          <a:xfrm>
            <a:off x="205344" y="217352"/>
            <a:ext cx="17329941" cy="1524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8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 MICROSERVICES IDENTIFIED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4094105" y="2455946"/>
            <a:ext cx="3633470" cy="4541837"/>
          </a:xfrm>
          <a:custGeom>
            <a:avLst/>
            <a:gdLst/>
            <a:ahLst/>
            <a:cxnLst/>
            <a:rect l="l" t="t" r="r" b="b"/>
            <a:pathLst>
              <a:path w="3633470" h="4541837">
                <a:moveTo>
                  <a:pt x="0" y="0"/>
                </a:moveTo>
                <a:lnTo>
                  <a:pt x="3633470" y="0"/>
                </a:lnTo>
                <a:lnTo>
                  <a:pt x="3633470" y="4541837"/>
                </a:lnTo>
                <a:lnTo>
                  <a:pt x="0" y="4541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CUSTOMER  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205675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Implemented customer.controller.ts with CRUD endpoints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0" y="274566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Designed CustomerSchema for MongoDB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0" y="343781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CreateCustomerDto for input validation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0" y="4129964"/>
            <a:ext cx="1623526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Swagger documentation with @ApiOperation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0" y="482211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Tested all endpoints via direct and gateway access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41965" y="8322057"/>
            <a:ext cx="9864889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IT22569622 - JAYAWEERA R.C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5757" y="6288964"/>
            <a:ext cx="15890042" cy="1098550"/>
            <a:chOff x="0" y="0"/>
            <a:chExt cx="21186722" cy="1464734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4551875" cy="740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Responsibility: 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5719" y="-38100"/>
              <a:ext cx="16321004" cy="1502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 Managing customer data including registration, update, and retrieval of customer information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9246672" y="1711412"/>
            <a:ext cx="4295522" cy="4521602"/>
          </a:xfrm>
          <a:custGeom>
            <a:avLst/>
            <a:gdLst/>
            <a:ahLst/>
            <a:cxnLst/>
            <a:rect l="l" t="t" r="r" b="b"/>
            <a:pathLst>
              <a:path w="4295522" h="4521602">
                <a:moveTo>
                  <a:pt x="0" y="0"/>
                </a:moveTo>
                <a:lnTo>
                  <a:pt x="4295522" y="0"/>
                </a:lnTo>
                <a:lnTo>
                  <a:pt x="4295522" y="4521602"/>
                </a:lnTo>
                <a:lnTo>
                  <a:pt x="0" y="4521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3764761" y="1711412"/>
            <a:ext cx="4292159" cy="5148017"/>
          </a:xfrm>
          <a:custGeom>
            <a:avLst/>
            <a:gdLst/>
            <a:ahLst/>
            <a:cxnLst/>
            <a:rect l="l" t="t" r="r" b="b"/>
            <a:pathLst>
              <a:path w="4292159" h="5148017">
                <a:moveTo>
                  <a:pt x="0" y="0"/>
                </a:moveTo>
                <a:lnTo>
                  <a:pt x="4292159" y="0"/>
                </a:lnTo>
                <a:lnTo>
                  <a:pt x="4292159" y="5148017"/>
                </a:lnTo>
                <a:lnTo>
                  <a:pt x="0" y="51480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246672" y="6447887"/>
            <a:ext cx="3259332" cy="2851916"/>
          </a:xfrm>
          <a:custGeom>
            <a:avLst/>
            <a:gdLst/>
            <a:ahLst/>
            <a:cxnLst/>
            <a:rect l="l" t="t" r="r" b="b"/>
            <a:pathLst>
              <a:path w="3259332" h="2851916">
                <a:moveTo>
                  <a:pt x="0" y="0"/>
                </a:moveTo>
                <a:lnTo>
                  <a:pt x="3259333" y="0"/>
                </a:lnTo>
                <a:lnTo>
                  <a:pt x="3259333" y="2851915"/>
                </a:lnTo>
                <a:lnTo>
                  <a:pt x="0" y="28519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09007" y="1711412"/>
            <a:ext cx="8085330" cy="3911279"/>
          </a:xfrm>
          <a:custGeom>
            <a:avLst/>
            <a:gdLst/>
            <a:ahLst/>
            <a:cxnLst/>
            <a:rect l="l" t="t" r="r" b="b"/>
            <a:pathLst>
              <a:path w="8085330" h="3911279">
                <a:moveTo>
                  <a:pt x="0" y="0"/>
                </a:moveTo>
                <a:lnTo>
                  <a:pt x="8085331" y="0"/>
                </a:lnTo>
                <a:lnTo>
                  <a:pt x="8085331" y="3911279"/>
                </a:lnTo>
                <a:lnTo>
                  <a:pt x="0" y="3911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CUSTOMER  SERVICE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3448" y="8322057"/>
            <a:ext cx="7839613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IT22569622 - JAYAWEERA R.C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3302902" y="2111798"/>
            <a:ext cx="10583083" cy="5739977"/>
            <a:chOff x="0" y="0"/>
            <a:chExt cx="14110778" cy="765330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01873" cy="7653303"/>
            </a:xfrm>
            <a:custGeom>
              <a:avLst/>
              <a:gdLst/>
              <a:ahLst/>
              <a:cxnLst/>
              <a:rect l="l" t="t" r="r" b="b"/>
              <a:pathLst>
                <a:path w="6801873" h="7653303">
                  <a:moveTo>
                    <a:pt x="0" y="0"/>
                  </a:moveTo>
                  <a:lnTo>
                    <a:pt x="6801873" y="0"/>
                  </a:lnTo>
                  <a:lnTo>
                    <a:pt x="6801873" y="7653303"/>
                  </a:lnTo>
                  <a:lnTo>
                    <a:pt x="0" y="7653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6801873" y="0"/>
              <a:ext cx="7308905" cy="7653303"/>
            </a:xfrm>
            <a:custGeom>
              <a:avLst/>
              <a:gdLst/>
              <a:ahLst/>
              <a:cxnLst/>
              <a:rect l="l" t="t" r="r" b="b"/>
              <a:pathLst>
                <a:path w="7308905" h="7653303">
                  <a:moveTo>
                    <a:pt x="0" y="0"/>
                  </a:moveTo>
                  <a:lnTo>
                    <a:pt x="7308905" y="0"/>
                  </a:lnTo>
                  <a:lnTo>
                    <a:pt x="7308905" y="7653303"/>
                  </a:lnTo>
                  <a:lnTo>
                    <a:pt x="0" y="7653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71733" y="432418"/>
            <a:ext cx="1620640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DIRECT VS TESTING VIA GATEWAY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1745063" y="7913688"/>
            <a:ext cx="8521373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Customer service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IT22569622 - Jayaweera R.C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740711" y="649288"/>
            <a:ext cx="5778062" cy="5778062"/>
          </a:xfrm>
          <a:custGeom>
            <a:avLst/>
            <a:gdLst/>
            <a:ahLst/>
            <a:cxnLst/>
            <a:rect l="l" t="t" r="r" b="b"/>
            <a:pathLst>
              <a:path w="5778062" h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PRODUCT  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808266" y="8322057"/>
            <a:ext cx="9864889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IT22283344 - SUMANAWEERA A. D. H. R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0" y="205675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 product.controller.ts   with CRUD  endpoints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0" y="274566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Designed ProductSchema for MongoDB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0" y="343781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CreateProductDto for input validation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0" y="4129964"/>
            <a:ext cx="1623526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Swagger documentation with @ApiOperation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0" y="482211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Tested all endpoints via direct and gateway access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5757" y="6288964"/>
            <a:ext cx="15890042" cy="1098550"/>
            <a:chOff x="0" y="0"/>
            <a:chExt cx="21186722" cy="1464734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4551875" cy="740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Responsibility: 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5719" y="-38100"/>
              <a:ext cx="16321004" cy="1502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Managing product catalog including creation, update, deletion, and retrieval of product information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29560" y="1711412"/>
            <a:ext cx="8822253" cy="4113375"/>
          </a:xfrm>
          <a:custGeom>
            <a:avLst/>
            <a:gdLst/>
            <a:ahLst/>
            <a:cxnLst/>
            <a:rect l="l" t="t" r="r" b="b"/>
            <a:pathLst>
              <a:path w="8822253" h="4113375">
                <a:moveTo>
                  <a:pt x="0" y="0"/>
                </a:moveTo>
                <a:lnTo>
                  <a:pt x="8822253" y="0"/>
                </a:lnTo>
                <a:lnTo>
                  <a:pt x="8822253" y="4113376"/>
                </a:lnTo>
                <a:lnTo>
                  <a:pt x="0" y="4113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10895693" y="6067035"/>
            <a:ext cx="3259332" cy="2851916"/>
          </a:xfrm>
          <a:custGeom>
            <a:avLst/>
            <a:gdLst/>
            <a:ahLst/>
            <a:cxnLst/>
            <a:rect l="l" t="t" r="r" b="b"/>
            <a:pathLst>
              <a:path w="3259332" h="2851916">
                <a:moveTo>
                  <a:pt x="0" y="0"/>
                </a:moveTo>
                <a:lnTo>
                  <a:pt x="3259333" y="0"/>
                </a:lnTo>
                <a:lnTo>
                  <a:pt x="3259333" y="2851916"/>
                </a:lnTo>
                <a:lnTo>
                  <a:pt x="0" y="28519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9149426" y="1711412"/>
            <a:ext cx="4417589" cy="3876434"/>
          </a:xfrm>
          <a:custGeom>
            <a:avLst/>
            <a:gdLst/>
            <a:ahLst/>
            <a:cxnLst/>
            <a:rect l="l" t="t" r="r" b="b"/>
            <a:pathLst>
              <a:path w="4417589" h="3876434">
                <a:moveTo>
                  <a:pt x="0" y="0"/>
                </a:moveTo>
                <a:lnTo>
                  <a:pt x="4417589" y="0"/>
                </a:lnTo>
                <a:lnTo>
                  <a:pt x="4417589" y="3876434"/>
                </a:lnTo>
                <a:lnTo>
                  <a:pt x="0" y="38764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3767040" y="1555299"/>
            <a:ext cx="4307126" cy="4032547"/>
          </a:xfrm>
          <a:custGeom>
            <a:avLst/>
            <a:gdLst/>
            <a:ahLst/>
            <a:cxnLst/>
            <a:rect l="l" t="t" r="r" b="b"/>
            <a:pathLst>
              <a:path w="4307126" h="4032547">
                <a:moveTo>
                  <a:pt x="0" y="0"/>
                </a:moveTo>
                <a:lnTo>
                  <a:pt x="4307126" y="0"/>
                </a:lnTo>
                <a:lnTo>
                  <a:pt x="4307126" y="4032547"/>
                </a:lnTo>
                <a:lnTo>
                  <a:pt x="0" y="40325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PRODUCT  SERVICE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93955" y="8184750"/>
            <a:ext cx="9864889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IT22283344 - SUMANAWEERA A. D. H. 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2765226" y="2186468"/>
            <a:ext cx="12941096" cy="5386622"/>
            <a:chOff x="0" y="0"/>
            <a:chExt cx="17254794" cy="718216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91097" cy="7182163"/>
            </a:xfrm>
            <a:custGeom>
              <a:avLst/>
              <a:gdLst/>
              <a:ahLst/>
              <a:cxnLst/>
              <a:rect l="l" t="t" r="r" b="b"/>
              <a:pathLst>
                <a:path w="8291097" h="7182163">
                  <a:moveTo>
                    <a:pt x="0" y="0"/>
                  </a:moveTo>
                  <a:lnTo>
                    <a:pt x="8291097" y="0"/>
                  </a:lnTo>
                  <a:lnTo>
                    <a:pt x="8291097" y="7182163"/>
                  </a:lnTo>
                  <a:lnTo>
                    <a:pt x="0" y="718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8291097" y="0"/>
              <a:ext cx="8963697" cy="7182163"/>
            </a:xfrm>
            <a:custGeom>
              <a:avLst/>
              <a:gdLst/>
              <a:ahLst/>
              <a:cxnLst/>
              <a:rect l="l" t="t" r="r" b="b"/>
              <a:pathLst>
                <a:path w="8963697" h="7182163">
                  <a:moveTo>
                    <a:pt x="0" y="0"/>
                  </a:moveTo>
                  <a:lnTo>
                    <a:pt x="8963697" y="0"/>
                  </a:lnTo>
                  <a:lnTo>
                    <a:pt x="8963697" y="7182163"/>
                  </a:lnTo>
                  <a:lnTo>
                    <a:pt x="0" y="7182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371733" y="432418"/>
            <a:ext cx="1620640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DIRECT VS TESTING VIA GATEWAY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784693" y="7774345"/>
            <a:ext cx="9871725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Product   service </a:t>
            </a:r>
          </a:p>
          <a:p>
            <a:pPr algn="l">
              <a:lnSpc>
                <a:spcPts val="4900"/>
              </a:lnSpc>
            </a:pPr>
            <a:r>
              <a:rPr lang="en-US" sz="3500" spc="175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IT22283344 - Sumanaweera A. D. H. 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4450586" y="2388542"/>
            <a:ext cx="3837414" cy="3837414"/>
          </a:xfrm>
          <a:custGeom>
            <a:avLst/>
            <a:gdLst/>
            <a:ahLst/>
            <a:cxnLst/>
            <a:rect l="l" t="t" r="r" b="b"/>
            <a:pathLst>
              <a:path w="3837414" h="3837414">
                <a:moveTo>
                  <a:pt x="0" y="0"/>
                </a:moveTo>
                <a:lnTo>
                  <a:pt x="3837414" y="0"/>
                </a:lnTo>
                <a:lnTo>
                  <a:pt x="3837414" y="3837414"/>
                </a:lnTo>
                <a:lnTo>
                  <a:pt x="0" y="38374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ORDER  SERVICE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205675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Implemented order.controller.ts with CRUD endpoints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0" y="274566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Designed OrderSchema for MongoDB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0" y="343781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CreateOrderDto for input validation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0" y="4129964"/>
            <a:ext cx="1623526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Swagger documentation with @ApiOperation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0" y="482211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Tested all endpoints via direct and gateway access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987719" y="8322057"/>
            <a:ext cx="7993300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IT22569622 - KAUSHAN  M.K.A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5757" y="6288964"/>
            <a:ext cx="15890042" cy="1098550"/>
            <a:chOff x="0" y="0"/>
            <a:chExt cx="21186722" cy="1464734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4551875" cy="740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Responsibility: 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5719" y="-38100"/>
              <a:ext cx="16321004" cy="1502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Managing order processing including creation, update, and retrieval of customer orders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209007" y="1711412"/>
            <a:ext cx="8491316" cy="4118288"/>
          </a:xfrm>
          <a:custGeom>
            <a:avLst/>
            <a:gdLst/>
            <a:ahLst/>
            <a:cxnLst/>
            <a:rect l="l" t="t" r="r" b="b"/>
            <a:pathLst>
              <a:path w="8491316" h="4118288">
                <a:moveTo>
                  <a:pt x="0" y="0"/>
                </a:moveTo>
                <a:lnTo>
                  <a:pt x="8491316" y="0"/>
                </a:lnTo>
                <a:lnTo>
                  <a:pt x="8491316" y="4118288"/>
                </a:lnTo>
                <a:lnTo>
                  <a:pt x="0" y="41182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9144000" y="1711412"/>
            <a:ext cx="4283352" cy="3876434"/>
          </a:xfrm>
          <a:custGeom>
            <a:avLst/>
            <a:gdLst/>
            <a:ahLst/>
            <a:cxnLst/>
            <a:rect l="l" t="t" r="r" b="b"/>
            <a:pathLst>
              <a:path w="4283352" h="3876434">
                <a:moveTo>
                  <a:pt x="0" y="0"/>
                </a:moveTo>
                <a:lnTo>
                  <a:pt x="4283352" y="0"/>
                </a:lnTo>
                <a:lnTo>
                  <a:pt x="4283352" y="3876434"/>
                </a:lnTo>
                <a:lnTo>
                  <a:pt x="0" y="3876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697895" y="1711412"/>
            <a:ext cx="4141503" cy="4330984"/>
          </a:xfrm>
          <a:custGeom>
            <a:avLst/>
            <a:gdLst/>
            <a:ahLst/>
            <a:cxnLst/>
            <a:rect l="l" t="t" r="r" b="b"/>
            <a:pathLst>
              <a:path w="4141503" h="4330984">
                <a:moveTo>
                  <a:pt x="0" y="0"/>
                </a:moveTo>
                <a:lnTo>
                  <a:pt x="4141503" y="0"/>
                </a:lnTo>
                <a:lnTo>
                  <a:pt x="4141503" y="4330984"/>
                </a:lnTo>
                <a:lnTo>
                  <a:pt x="0" y="433098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267391" y="5829700"/>
            <a:ext cx="3159962" cy="2879515"/>
          </a:xfrm>
          <a:custGeom>
            <a:avLst/>
            <a:gdLst/>
            <a:ahLst/>
            <a:cxnLst/>
            <a:rect l="l" t="t" r="r" b="b"/>
            <a:pathLst>
              <a:path w="3159962" h="2879515">
                <a:moveTo>
                  <a:pt x="0" y="0"/>
                </a:moveTo>
                <a:lnTo>
                  <a:pt x="3159961" y="0"/>
                </a:lnTo>
                <a:lnTo>
                  <a:pt x="3159961" y="2879516"/>
                </a:lnTo>
                <a:lnTo>
                  <a:pt x="0" y="287951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ORDER  SERVICE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28700" y="8322057"/>
            <a:ext cx="7993300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IT22569622 - KAUSHAN  M.K.A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540687" y="2042205"/>
            <a:ext cx="8604132" cy="5337495"/>
            <a:chOff x="0" y="0"/>
            <a:chExt cx="11472176" cy="71166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022473" cy="7116660"/>
            </a:xfrm>
            <a:custGeom>
              <a:avLst/>
              <a:gdLst/>
              <a:ahLst/>
              <a:cxnLst/>
              <a:rect l="l" t="t" r="r" b="b"/>
              <a:pathLst>
                <a:path w="6022473" h="7116660">
                  <a:moveTo>
                    <a:pt x="0" y="0"/>
                  </a:moveTo>
                  <a:lnTo>
                    <a:pt x="6022473" y="0"/>
                  </a:lnTo>
                  <a:lnTo>
                    <a:pt x="6022473" y="7116660"/>
                  </a:lnTo>
                  <a:lnTo>
                    <a:pt x="0" y="7116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360745" y="0"/>
              <a:ext cx="6111431" cy="7116660"/>
            </a:xfrm>
            <a:custGeom>
              <a:avLst/>
              <a:gdLst/>
              <a:ahLst/>
              <a:cxnLst/>
              <a:rect l="l" t="t" r="r" b="b"/>
              <a:pathLst>
                <a:path w="6111431" h="7116660">
                  <a:moveTo>
                    <a:pt x="0" y="0"/>
                  </a:moveTo>
                  <a:lnTo>
                    <a:pt x="6111431" y="0"/>
                  </a:lnTo>
                  <a:lnTo>
                    <a:pt x="6111431" y="7116660"/>
                  </a:lnTo>
                  <a:lnTo>
                    <a:pt x="0" y="7116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46987" y="7732124"/>
            <a:ext cx="8403682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Order   service 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IT22569622 - Kaushan M.k.a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1733" y="432418"/>
            <a:ext cx="1620640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DIRECT VS TESTING VIA GATEWAY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3" name="TextBox 23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INVENTORY  SERVICE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0" y="205675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Implemented inventory.controller.ts with CRUD endpoints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0" y="274566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Designed InventorySchema for MongoDB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0" y="3437815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Created CreateInventoryDto for input validation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0" y="4129964"/>
            <a:ext cx="1623526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Integrated Swagger documentation with @ApiOperation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0" y="4822114"/>
            <a:ext cx="1495206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Tested all endpoints via direct and gateway access</a:t>
            </a:r>
          </a:p>
        </p:txBody>
      </p:sp>
      <p:sp>
        <p:nvSpPr>
          <p:cNvPr id="30" name="Freeform 30"/>
          <p:cNvSpPr/>
          <p:nvPr/>
        </p:nvSpPr>
        <p:spPr>
          <a:xfrm>
            <a:off x="13922889" y="1660276"/>
            <a:ext cx="4218653" cy="4218653"/>
          </a:xfrm>
          <a:custGeom>
            <a:avLst/>
            <a:gdLst/>
            <a:ahLst/>
            <a:cxnLst/>
            <a:rect l="l" t="t" r="r" b="b"/>
            <a:pathLst>
              <a:path w="4218653" h="4218653">
                <a:moveTo>
                  <a:pt x="0" y="0"/>
                </a:moveTo>
                <a:lnTo>
                  <a:pt x="4218653" y="0"/>
                </a:lnTo>
                <a:lnTo>
                  <a:pt x="4218653" y="4218652"/>
                </a:lnTo>
                <a:lnTo>
                  <a:pt x="0" y="42186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8117633" y="8322057"/>
            <a:ext cx="9864889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IT22277572 - JAYAWEERA J.P.S.P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515757" y="6288964"/>
            <a:ext cx="15890042" cy="1098550"/>
            <a:chOff x="0" y="0"/>
            <a:chExt cx="21186722" cy="1464734"/>
          </a:xfrm>
        </p:grpSpPr>
        <p:sp>
          <p:nvSpPr>
            <p:cNvPr id="33" name="TextBox 33"/>
            <p:cNvSpPr txBox="1"/>
            <p:nvPr/>
          </p:nvSpPr>
          <p:spPr>
            <a:xfrm>
              <a:off x="0" y="-38100"/>
              <a:ext cx="4551875" cy="740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Responsibility: 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865719" y="-38100"/>
              <a:ext cx="16321004" cy="15028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549"/>
                </a:lnSpc>
                <a:spcBef>
                  <a:spcPct val="0"/>
                </a:spcBef>
              </a:pPr>
              <a:r>
                <a:rPr lang="en-US" sz="3499" b="1">
                  <a:solidFill>
                    <a:srgbClr val="FFFFFF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Managing inventory including tracking product stock levels, updates, and availability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433397" y="1586169"/>
            <a:ext cx="7972512" cy="3856703"/>
          </a:xfrm>
          <a:custGeom>
            <a:avLst/>
            <a:gdLst/>
            <a:ahLst/>
            <a:cxnLst/>
            <a:rect l="l" t="t" r="r" b="b"/>
            <a:pathLst>
              <a:path w="7972512" h="3856703">
                <a:moveTo>
                  <a:pt x="0" y="0"/>
                </a:moveTo>
                <a:lnTo>
                  <a:pt x="7972513" y="0"/>
                </a:lnTo>
                <a:lnTo>
                  <a:pt x="7972513" y="3856703"/>
                </a:lnTo>
                <a:lnTo>
                  <a:pt x="0" y="38567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>
            <a:off x="8588987" y="1555299"/>
            <a:ext cx="4574704" cy="3825596"/>
          </a:xfrm>
          <a:custGeom>
            <a:avLst/>
            <a:gdLst/>
            <a:ahLst/>
            <a:cxnLst/>
            <a:rect l="l" t="t" r="r" b="b"/>
            <a:pathLst>
              <a:path w="4574704" h="3825596">
                <a:moveTo>
                  <a:pt x="0" y="0"/>
                </a:moveTo>
                <a:lnTo>
                  <a:pt x="4574703" y="0"/>
                </a:lnTo>
                <a:lnTo>
                  <a:pt x="4574703" y="3825596"/>
                </a:lnTo>
                <a:lnTo>
                  <a:pt x="0" y="38255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13525930" y="1555299"/>
            <a:ext cx="4488163" cy="3326851"/>
          </a:xfrm>
          <a:custGeom>
            <a:avLst/>
            <a:gdLst/>
            <a:ahLst/>
            <a:cxnLst/>
            <a:rect l="l" t="t" r="r" b="b"/>
            <a:pathLst>
              <a:path w="4488163" h="3326851">
                <a:moveTo>
                  <a:pt x="0" y="0"/>
                </a:moveTo>
                <a:lnTo>
                  <a:pt x="4488163" y="0"/>
                </a:lnTo>
                <a:lnTo>
                  <a:pt x="4488163" y="3326851"/>
                </a:lnTo>
                <a:lnTo>
                  <a:pt x="0" y="33268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10203791" y="5577047"/>
            <a:ext cx="2959899" cy="3132168"/>
          </a:xfrm>
          <a:custGeom>
            <a:avLst/>
            <a:gdLst/>
            <a:ahLst/>
            <a:cxnLst/>
            <a:rect l="l" t="t" r="r" b="b"/>
            <a:pathLst>
              <a:path w="2959899" h="3132168">
                <a:moveTo>
                  <a:pt x="0" y="0"/>
                </a:moveTo>
                <a:lnTo>
                  <a:pt x="2959899" y="0"/>
                </a:lnTo>
                <a:lnTo>
                  <a:pt x="2959899" y="3132169"/>
                </a:lnTo>
                <a:lnTo>
                  <a:pt x="0" y="31321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TextBox 24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8" name="TextBox 28"/>
          <p:cNvSpPr txBox="1"/>
          <p:nvPr/>
        </p:nvSpPr>
        <p:spPr>
          <a:xfrm>
            <a:off x="209007" y="544513"/>
            <a:ext cx="7091265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INVENTORY  SERVICE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3448" y="8322057"/>
            <a:ext cx="8613224" cy="5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1" spc="175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IT22277572 - JAYAWEERA J.P.S.P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0" name="Group 20"/>
          <p:cNvGrpSpPr/>
          <p:nvPr/>
        </p:nvGrpSpPr>
        <p:grpSpPr>
          <a:xfrm>
            <a:off x="4333079" y="1742765"/>
            <a:ext cx="9481530" cy="5834788"/>
            <a:chOff x="0" y="0"/>
            <a:chExt cx="12642040" cy="77797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1947" cy="7779717"/>
            </a:xfrm>
            <a:custGeom>
              <a:avLst/>
              <a:gdLst/>
              <a:ahLst/>
              <a:cxnLst/>
              <a:rect l="l" t="t" r="r" b="b"/>
              <a:pathLst>
                <a:path w="5581947" h="7779717">
                  <a:moveTo>
                    <a:pt x="0" y="0"/>
                  </a:moveTo>
                  <a:lnTo>
                    <a:pt x="5581947" y="0"/>
                  </a:lnTo>
                  <a:lnTo>
                    <a:pt x="5581947" y="7779717"/>
                  </a:lnTo>
                  <a:lnTo>
                    <a:pt x="0" y="7779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5581947" y="0"/>
              <a:ext cx="7060093" cy="7779717"/>
            </a:xfrm>
            <a:custGeom>
              <a:avLst/>
              <a:gdLst/>
              <a:ahLst/>
              <a:cxnLst/>
              <a:rect l="l" t="t" r="r" b="b"/>
              <a:pathLst>
                <a:path w="7060093" h="7779717">
                  <a:moveTo>
                    <a:pt x="0" y="0"/>
                  </a:moveTo>
                  <a:lnTo>
                    <a:pt x="7060093" y="0"/>
                  </a:lnTo>
                  <a:lnTo>
                    <a:pt x="7060093" y="7779717"/>
                  </a:lnTo>
                  <a:lnTo>
                    <a:pt x="0" y="77797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6" name="TextBox 26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7" name="TextBox 27"/>
          <p:cNvSpPr txBox="1"/>
          <p:nvPr/>
        </p:nvSpPr>
        <p:spPr>
          <a:xfrm>
            <a:off x="1902125" y="7702926"/>
            <a:ext cx="8106356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 Inventory   service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Garet"/>
                <a:ea typeface="Garet"/>
                <a:cs typeface="Garet"/>
                <a:sym typeface="Garet"/>
              </a:rPr>
              <a:t>IT22277572 - Jayaweera J.P.S.P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371733" y="432418"/>
            <a:ext cx="16206401" cy="119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  <a:spcBef>
                <a:spcPct val="0"/>
              </a:spcBef>
            </a:pPr>
            <a:r>
              <a:rPr lang="en-US" sz="69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DIRECT VS TESTING VIA GATEWAY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57889" y="133660"/>
            <a:ext cx="1689998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771346" y="2195567"/>
            <a:ext cx="4216360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What We Achieved: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68121" y="3014884"/>
            <a:ext cx="1574853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4 independent microservices (Product, Customer, Inventory, Order)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768121" y="3837209"/>
            <a:ext cx="14178225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API Gateway providing single entry point (port 3000)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768121" y="4659534"/>
            <a:ext cx="1078479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Full CRUD operations on all services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768121" y="5481859"/>
            <a:ext cx="11020175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Direct and gateway access both working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33448" y="6494684"/>
            <a:ext cx="2982873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50"/>
              </a:lnSpc>
              <a:spcBef>
                <a:spcPct val="0"/>
              </a:spcBef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Key Learnings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02013" y="7317009"/>
            <a:ext cx="11020175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API Gateway simplifies client communication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02013" y="8103692"/>
            <a:ext cx="13295540" cy="555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550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Microservices improve scalability and maintainability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57889" y="133660"/>
            <a:ext cx="1689998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REFERENCES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4" name="TextBox 24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028700" y="2446043"/>
            <a:ext cx="15748533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[1] J. Lewis and M. Fowler, “Microservices: A Definition of This New Architectural Term,” Martin Fowler Blog, Mar. 2014.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4016375"/>
            <a:ext cx="15748533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[2] NestJS, “NestJS Documentation,” [Online]. Available: https://docs.nestjs.com/ [Accessed: Mar. 31, 2026].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28700" y="5586707"/>
            <a:ext cx="15748533" cy="112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0"/>
              </a:lnSpc>
            </a:pPr>
            <a:r>
              <a:rPr lang="en-US" sz="350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[3] MongoDB Inc., “MongoDB Documentation,” [Online]. Available: https://www.mongodb.com/docs/ [Accessed: Mar. 31, 2026].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682059" cy="12466028"/>
          </a:xfrm>
          <a:custGeom>
            <a:avLst/>
            <a:gdLst/>
            <a:ahLst/>
            <a:cxnLst/>
            <a:rect l="l" t="t" r="r" b="b"/>
            <a:pathLst>
              <a:path w="18682059" h="12466028">
                <a:moveTo>
                  <a:pt x="0" y="0"/>
                </a:moveTo>
                <a:lnTo>
                  <a:pt x="18682059" y="0"/>
                </a:lnTo>
                <a:lnTo>
                  <a:pt x="18682059" y="12466028"/>
                </a:lnTo>
                <a:lnTo>
                  <a:pt x="0" y="124660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2782894" y="-4632294"/>
            <a:ext cx="20622292" cy="14537813"/>
            <a:chOff x="0" y="0"/>
            <a:chExt cx="893669" cy="62999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93669" cy="629997"/>
            </a:xfrm>
            <a:custGeom>
              <a:avLst/>
              <a:gdLst/>
              <a:ahLst/>
              <a:cxnLst/>
              <a:rect l="l" t="t" r="r" b="b"/>
              <a:pathLst>
                <a:path w="893669" h="629997">
                  <a:moveTo>
                    <a:pt x="690469" y="0"/>
                  </a:moveTo>
                  <a:cubicBezTo>
                    <a:pt x="802693" y="0"/>
                    <a:pt x="893669" y="141030"/>
                    <a:pt x="893669" y="314999"/>
                  </a:cubicBezTo>
                  <a:cubicBezTo>
                    <a:pt x="893669" y="488968"/>
                    <a:pt x="802693" y="629997"/>
                    <a:pt x="690469" y="629997"/>
                  </a:cubicBezTo>
                  <a:lnTo>
                    <a:pt x="203200" y="629997"/>
                  </a:lnTo>
                  <a:cubicBezTo>
                    <a:pt x="90976" y="629997"/>
                    <a:pt x="0" y="488968"/>
                    <a:pt x="0" y="314999"/>
                  </a:cubicBezTo>
                  <a:cubicBezTo>
                    <a:pt x="0" y="141030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51D40">
                <a:alpha val="8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93669" cy="6680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7" name="Freeform 7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8" name="Group 8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1" name="Group 11"/>
          <p:cNvGrpSpPr/>
          <p:nvPr/>
        </p:nvGrpSpPr>
        <p:grpSpPr>
          <a:xfrm>
            <a:off x="-904968" y="8918951"/>
            <a:ext cx="5614188" cy="5173231"/>
            <a:chOff x="0" y="0"/>
            <a:chExt cx="7485584" cy="6897641"/>
          </a:xfrm>
        </p:grpSpPr>
        <p:sp>
          <p:nvSpPr>
            <p:cNvPr id="12" name="Freeform 12"/>
            <p:cNvSpPr/>
            <p:nvPr/>
          </p:nvSpPr>
          <p:spPr>
            <a:xfrm>
              <a:off x="1235824" y="647882"/>
              <a:ext cx="6249760" cy="6249760"/>
            </a:xfrm>
            <a:custGeom>
              <a:avLst/>
              <a:gdLst/>
              <a:ahLst/>
              <a:cxnLst/>
              <a:rect l="l" t="t" r="r" b="b"/>
              <a:pathLst>
                <a:path w="6249760" h="6249760">
                  <a:moveTo>
                    <a:pt x="0" y="0"/>
                  </a:moveTo>
                  <a:lnTo>
                    <a:pt x="6249760" y="0"/>
                  </a:lnTo>
                  <a:lnTo>
                    <a:pt x="6249760" y="6249759"/>
                  </a:lnTo>
                  <a:lnTo>
                    <a:pt x="0" y="62497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0" y="0"/>
              <a:ext cx="3532351" cy="3532351"/>
              <a:chOff x="0" y="0"/>
              <a:chExt cx="812800" cy="81280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51D40"/>
              </a:solidFill>
              <a:ln cap="sq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8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16" name="Group 16"/>
          <p:cNvGrpSpPr/>
          <p:nvPr/>
        </p:nvGrpSpPr>
        <p:grpSpPr>
          <a:xfrm>
            <a:off x="205344" y="9258300"/>
            <a:ext cx="18082656" cy="1014744"/>
            <a:chOff x="0" y="0"/>
            <a:chExt cx="4762510" cy="26725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762510" cy="267258"/>
            </a:xfrm>
            <a:custGeom>
              <a:avLst/>
              <a:gdLst/>
              <a:ahLst/>
              <a:cxnLst/>
              <a:rect l="l" t="t" r="r" b="b"/>
              <a:pathLst>
                <a:path w="4762510" h="267258">
                  <a:moveTo>
                    <a:pt x="0" y="0"/>
                  </a:moveTo>
                  <a:lnTo>
                    <a:pt x="4762510" y="0"/>
                  </a:lnTo>
                  <a:lnTo>
                    <a:pt x="4762510" y="267258"/>
                  </a:lnTo>
                  <a:lnTo>
                    <a:pt x="0" y="267258"/>
                  </a:lnTo>
                  <a:close/>
                </a:path>
              </a:pathLst>
            </a:custGeom>
            <a:solidFill>
              <a:srgbClr val="051D4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4762510" cy="286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59"/>
                </a:lnSpc>
              </a:pPr>
              <a:endParaRPr/>
            </a:p>
            <a:p>
              <a:pPr algn="ctr">
                <a:lnSpc>
                  <a:spcPts val="2859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209007" y="9258300"/>
            <a:ext cx="848882" cy="846760"/>
          </a:xfrm>
          <a:custGeom>
            <a:avLst/>
            <a:gdLst/>
            <a:ahLst/>
            <a:cxnLst/>
            <a:rect l="l" t="t" r="r" b="b"/>
            <a:pathLst>
              <a:path w="848882" h="846760">
                <a:moveTo>
                  <a:pt x="0" y="0"/>
                </a:moveTo>
                <a:lnTo>
                  <a:pt x="848882" y="0"/>
                </a:lnTo>
                <a:lnTo>
                  <a:pt x="848882" y="846760"/>
                </a:lnTo>
                <a:lnTo>
                  <a:pt x="0" y="8467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6921886" y="5351965"/>
            <a:ext cx="3359088" cy="3359088"/>
          </a:xfrm>
          <a:custGeom>
            <a:avLst/>
            <a:gdLst/>
            <a:ahLst/>
            <a:cxnLst/>
            <a:rect l="l" t="t" r="r" b="b"/>
            <a:pathLst>
              <a:path w="3359088" h="3359088">
                <a:moveTo>
                  <a:pt x="0" y="0"/>
                </a:moveTo>
                <a:lnTo>
                  <a:pt x="3359088" y="0"/>
                </a:lnTo>
                <a:lnTo>
                  <a:pt x="3359088" y="3359088"/>
                </a:lnTo>
                <a:lnTo>
                  <a:pt x="0" y="33590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0" y="3742859"/>
            <a:ext cx="16899986" cy="1609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159"/>
              </a:lnSpc>
              <a:spcBef>
                <a:spcPct val="0"/>
              </a:spcBef>
            </a:pPr>
            <a:r>
              <a:rPr lang="en-US" sz="9399" b="1">
                <a:solidFill>
                  <a:srgbClr val="FFFFFF"/>
                </a:solidFill>
                <a:latin typeface="Garet Bold"/>
                <a:ea typeface="Garet Bold"/>
                <a:cs typeface="Garet Bold"/>
                <a:sym typeface="Garet Bold"/>
              </a:rPr>
              <a:t>THANK  YOU.....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28700" y="9305125"/>
            <a:ext cx="3511987" cy="7245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SLIIT</a:t>
            </a:r>
          </a:p>
          <a:p>
            <a:pPr algn="l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Solway"/>
                <a:ea typeface="Solway"/>
                <a:cs typeface="Solway"/>
                <a:sym typeface="Solway"/>
              </a:rPr>
              <a:t>FACULTY OF COMPUTING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4155026" y="9495625"/>
            <a:ext cx="1755815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31/03/2026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6629252" y="9495625"/>
            <a:ext cx="5694998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  <p:sp>
        <p:nvSpPr>
          <p:cNvPr id="25" name="TextBox 25"/>
          <p:cNvSpPr txBox="1"/>
          <p:nvPr/>
        </p:nvSpPr>
        <p:spPr>
          <a:xfrm>
            <a:off x="16974774" y="9495625"/>
            <a:ext cx="826021" cy="353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9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971</Words>
  <Application>Microsoft Office PowerPoint</Application>
  <PresentationFormat>Custom</PresentationFormat>
  <Paragraphs>244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Open Sauce</vt:lpstr>
      <vt:lpstr>Canva Sans</vt:lpstr>
      <vt:lpstr>Arial</vt:lpstr>
      <vt:lpstr>Garet Bold</vt:lpstr>
      <vt:lpstr>Canva Sans Medium</vt:lpstr>
      <vt:lpstr>Calibri</vt:lpstr>
      <vt:lpstr>Canva Sans Bold</vt:lpstr>
      <vt:lpstr>Garet</vt:lpstr>
      <vt:lpstr>Poppins Bold</vt:lpstr>
      <vt:lpstr>Open Sauce Bold</vt:lpstr>
      <vt:lpstr>Solway</vt:lpstr>
      <vt:lpstr>Almarai Bold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 developnment</dc:title>
  <cp:lastModifiedBy>JAYAWEERA J P S P it22277572</cp:lastModifiedBy>
  <cp:revision>4</cp:revision>
  <dcterms:created xsi:type="dcterms:W3CDTF">2006-08-16T00:00:00Z</dcterms:created>
  <dcterms:modified xsi:type="dcterms:W3CDTF">2026-05-01T02:24:26Z</dcterms:modified>
  <dc:identifier>DAHFeliPrZU</dc:identifier>
</cp:coreProperties>
</file>